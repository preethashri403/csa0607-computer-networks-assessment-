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B2545"/>
                </a:solidFill>
                <a:latin typeface="Arial"/>
              </a:defRPr>
            </a:pPr>
            <a:r>
              <a:rPr lang="en-US" sz="1300" b="0" i="0" u="none" strike="noStrike" dirty="0">
                <a:solidFill>
                  <a:srgbClr val="0B2545"/>
                </a:solidFill>
                <a:latin typeface="Arial"/>
              </a:rPr>
              <a:t>Voice Call Jitter Under Congestion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Jitter (ms) during congestion</c:v>
                </c:pt>
              </c:strCache>
            </c:strRef>
          </c:tx>
          <c:spPr>
            <a:solidFill>
              <a:srgbClr val="D98E27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72D4-4FE8-B6FB-C6EAFB1818B5}"/>
              </c:ext>
            </c:extLst>
          </c:dPt>
          <c:dPt>
            <c:idx val="1"/>
            <c:invertIfNegative val="0"/>
            <c:bubble3D val="0"/>
            <c:spPr>
              <a:solidFill>
                <a:srgbClr val="2E9E9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72D4-4FE8-B6FB-C6EAFB1818B5}"/>
              </c:ext>
            </c:extLst>
          </c:dPt>
          <c:dLbls>
            <c:numFmt formatCode="0&quot;ms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0B2545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No QoS</c:v>
                </c:pt>
                <c:pt idx="1">
                  <c:v>With QoS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42</c:v>
                </c:pt>
                <c:pt idx="1">
                  <c:v>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72D4-4FE8-B6FB-C6EAFB1818B5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6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B7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E4E9E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B7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317988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5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371600"/>
            <a:ext cx="4572000" cy="4572000"/>
          </a:xfrm>
          <a:prstGeom prst="ellipse">
            <a:avLst/>
          </a:prstGeom>
          <a:solidFill>
            <a:srgbClr val="0B5D6B">
              <a:alpha val="3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645920" y="4389120"/>
            <a:ext cx="4114800" cy="4114800"/>
          </a:xfrm>
          <a:prstGeom prst="ellipse">
            <a:avLst/>
          </a:prstGeom>
          <a:solidFill>
            <a:srgbClr val="2E9E9E">
              <a:alpha val="2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554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2E9E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NETWORKING FUNDAMENTALS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77240" y="1965960"/>
            <a:ext cx="9601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Quality of Service (QoS)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822960" y="3063240"/>
            <a:ext cx="8686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E4F1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Explained in Simple and Technical Terms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822960" y="3794760"/>
            <a:ext cx="2011680" cy="0"/>
          </a:xfrm>
          <a:prstGeom prst="line">
            <a:avLst/>
          </a:prstGeom>
          <a:noFill/>
          <a:ln w="38100">
            <a:solidFill>
              <a:srgbClr val="2E9E9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40233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AFC4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networks decide what traffic gets priority — and why it matters</a:t>
            </a:r>
            <a:endParaRPr lang="en-US" sz="13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B97C4E3-B572-50F8-5249-D000432772B8}"/>
              </a:ext>
            </a:extLst>
          </p:cNvPr>
          <p:cNvSpPr txBox="1"/>
          <p:nvPr/>
        </p:nvSpPr>
        <p:spPr>
          <a:xfrm>
            <a:off x="1000125" y="4867275"/>
            <a:ext cx="39624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M.V.Preethashri</a:t>
            </a:r>
          </a:p>
          <a:p>
            <a:r>
              <a:rPr lang="en-US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192524476</a:t>
            </a:r>
            <a:endParaRPr lang="en-IN" sz="20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1" name="Picture 10" descr="Saveetha Institute of Medical and Technical Sciences Engineering Fests,  Symposiums in Chennai from August 2026 Technical, Cultural, Management,  Sports, Conferences, Seminars">
            <a:extLst>
              <a:ext uri="{FF2B5EF4-FFF2-40B4-BE49-F238E27FC236}">
                <a16:creationId xmlns:a16="http://schemas.microsoft.com/office/drawing/2014/main" id="{2176E292-3114-71B2-AE92-15C2DBDC2D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9525"/>
            <a:ext cx="12192000" cy="104978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kern="0" spc="200" dirty="0">
                <a:solidFill>
                  <a:srgbClr val="2E9E9E"/>
                </a:solidFill>
              </a:rPr>
              <a:t>INTRODUCTION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5842829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2545"/>
                </a:solidFill>
              </a:rPr>
              <a:t>QoS is traffic management for data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54864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3345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Imagine an airport security line: most travelers wait in the regular queue, but urgent passengers — a diplomat, a crew member, a connecting flight about to close — get to skip ahead. QoS does the same thing for data packets crossing a network.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548640" y="3200400"/>
            <a:ext cx="54864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3345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Without QoS, every packet is treated equally and served first-come, first-served. When the network gets busy, everything — video calls, downloads, emails — competes for the same limited space, and the things that need to arrive fast (like a voice call) can suffer just as much as the things that don't (like a background update).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6492240" y="1371600"/>
            <a:ext cx="5120640" cy="4434840"/>
          </a:xfrm>
          <a:prstGeom prst="roundRect">
            <a:avLst>
              <a:gd name="adj" fmla="val 2474"/>
            </a:avLst>
          </a:prstGeom>
          <a:solidFill>
            <a:srgbClr val="F7FAFA"/>
          </a:solidFill>
          <a:ln/>
          <a:effectLst>
            <a:outerShdw blurRad="127000" dist="38100" dir="5400000" algn="bl" rotWithShape="0">
              <a:srgbClr val="1B2B33">
                <a:alpha val="18000"/>
              </a:srgbClr>
            </a:outerShdw>
          </a:effectLst>
        </p:spPr>
      </p:sp>
      <p:pic>
        <p:nvPicPr>
          <p:cNvPr id="7" name="Image 0" descr="icon_plan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3720" y="1691640"/>
            <a:ext cx="502920" cy="5029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543800" y="1691640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2545"/>
                </a:solidFill>
              </a:rPr>
              <a:t>Priority Lane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6903720" y="2331720"/>
            <a:ext cx="4297680" cy="502920"/>
          </a:xfrm>
          <a:prstGeom prst="roundRect">
            <a:avLst>
              <a:gd name="adj" fmla="val 14545"/>
            </a:avLst>
          </a:prstGeom>
          <a:solidFill>
            <a:srgbClr val="2E9E9E"/>
          </a:solidFill>
          <a:ln/>
        </p:spPr>
      </p:sp>
      <p:sp>
        <p:nvSpPr>
          <p:cNvPr id="10" name="Text 7"/>
          <p:cNvSpPr/>
          <p:nvPr/>
        </p:nvSpPr>
        <p:spPr>
          <a:xfrm>
            <a:off x="6903720" y="2331720"/>
            <a:ext cx="4297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</a:rPr>
              <a:t>Voice call · Video conference</a:t>
            </a:r>
            <a:endParaRPr lang="en-US" sz="1250" dirty="0"/>
          </a:p>
        </p:txBody>
      </p:sp>
      <p:pic>
        <p:nvPicPr>
          <p:cNvPr id="11" name="Image 1" descr="icon_roa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03720" y="3154680"/>
            <a:ext cx="502920" cy="50292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543800" y="3154680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2545"/>
                </a:solidFill>
              </a:rPr>
              <a:t>Standard Lane</a:t>
            </a:r>
            <a:endParaRPr lang="en-US" sz="1600" dirty="0"/>
          </a:p>
        </p:txBody>
      </p:sp>
      <p:sp>
        <p:nvSpPr>
          <p:cNvPr id="13" name="Shape 9"/>
          <p:cNvSpPr/>
          <p:nvPr/>
        </p:nvSpPr>
        <p:spPr>
          <a:xfrm>
            <a:off x="6903720" y="3794760"/>
            <a:ext cx="4297680" cy="502920"/>
          </a:xfrm>
          <a:prstGeom prst="roundRect">
            <a:avLst>
              <a:gd name="adj" fmla="val 14545"/>
            </a:avLst>
          </a:prstGeom>
          <a:solidFill>
            <a:srgbClr val="9FB5BA"/>
          </a:solidFill>
          <a:ln/>
        </p:spPr>
      </p:sp>
      <p:sp>
        <p:nvSpPr>
          <p:cNvPr id="14" name="Text 10"/>
          <p:cNvSpPr/>
          <p:nvPr/>
        </p:nvSpPr>
        <p:spPr>
          <a:xfrm>
            <a:off x="6903720" y="3794760"/>
            <a:ext cx="4297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</a:rPr>
              <a:t>Web browsing · Email</a:t>
            </a:r>
            <a:endParaRPr lang="en-US" sz="1250" dirty="0"/>
          </a:p>
        </p:txBody>
      </p:sp>
      <p:pic>
        <p:nvPicPr>
          <p:cNvPr id="15" name="Image 2" descr="icon_traffic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03720" y="4617720"/>
            <a:ext cx="502920" cy="50292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7543800" y="4617720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2545"/>
                </a:solidFill>
              </a:rPr>
              <a:t>Background Lane</a:t>
            </a:r>
            <a:endParaRPr lang="en-US" sz="1600" dirty="0"/>
          </a:p>
        </p:txBody>
      </p:sp>
      <p:sp>
        <p:nvSpPr>
          <p:cNvPr id="17" name="Shape 12"/>
          <p:cNvSpPr/>
          <p:nvPr/>
        </p:nvSpPr>
        <p:spPr>
          <a:xfrm>
            <a:off x="6903720" y="5257800"/>
            <a:ext cx="4297680" cy="502920"/>
          </a:xfrm>
          <a:prstGeom prst="roundRect">
            <a:avLst>
              <a:gd name="adj" fmla="val 14545"/>
            </a:avLst>
          </a:prstGeom>
          <a:solidFill>
            <a:srgbClr val="C7D3D6"/>
          </a:solidFill>
          <a:ln/>
        </p:spPr>
      </p:sp>
      <p:sp>
        <p:nvSpPr>
          <p:cNvPr id="18" name="Text 13"/>
          <p:cNvSpPr/>
          <p:nvPr/>
        </p:nvSpPr>
        <p:spPr>
          <a:xfrm>
            <a:off x="6903720" y="5257800"/>
            <a:ext cx="4297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B2545"/>
                </a:solidFill>
              </a:rPr>
              <a:t>Backups · Software updates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25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8892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kern="0" spc="200" dirty="0">
                <a:solidFill>
                  <a:srgbClr val="2E9E9E"/>
                </a:solidFill>
              </a:rPr>
              <a:t>THE TECHNICAL DEFINITION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A formal definition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11064240" cy="1417320"/>
          </a:xfrm>
          <a:prstGeom prst="roundRect">
            <a:avLst>
              <a:gd name="adj" fmla="val 6452"/>
            </a:avLst>
          </a:prstGeom>
          <a:solidFill>
            <a:srgbClr val="13324A"/>
          </a:solidFill>
          <a:ln w="12700">
            <a:solidFill>
              <a:srgbClr val="2E9E9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691640"/>
            <a:ext cx="10332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550" b="1" dirty="0">
                <a:solidFill>
                  <a:srgbClr val="2E9E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Quality of Service (QoS)</a:t>
            </a:r>
            <a:r>
              <a:rPr lang="en-US" sz="1550" dirty="0">
                <a:solidFill>
                  <a:srgbClr val="DCE9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is the set of technologies and mechanisms that measure and control a network's ability to give predictable performance to selected traffic — by managing bandwidth, latency, jitter, and packet loss rather than treating all traffic identically.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548640" y="3246120"/>
            <a:ext cx="3520440" cy="2606040"/>
          </a:xfrm>
          <a:prstGeom prst="roundRect">
            <a:avLst>
              <a:gd name="adj" fmla="val 3509"/>
            </a:avLst>
          </a:prstGeom>
          <a:solidFill>
            <a:srgbClr val="0F2A3F"/>
          </a:solidFill>
          <a:ln/>
        </p:spPr>
      </p:sp>
      <p:sp>
        <p:nvSpPr>
          <p:cNvPr id="7" name="Shape 5"/>
          <p:cNvSpPr/>
          <p:nvPr/>
        </p:nvSpPr>
        <p:spPr>
          <a:xfrm>
            <a:off x="822960" y="3520440"/>
            <a:ext cx="640080" cy="640080"/>
          </a:xfrm>
          <a:prstGeom prst="ellipse">
            <a:avLst/>
          </a:prstGeom>
          <a:solidFill>
            <a:srgbClr val="2E9E9E"/>
          </a:solidFill>
          <a:ln/>
        </p:spPr>
      </p:sp>
      <p:pic>
        <p:nvPicPr>
          <p:cNvPr id="8" name="Image 0" descr="icon_classif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" y="3657600"/>
            <a:ext cx="365760" cy="36576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22960" y="4297680"/>
            <a:ext cx="2971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Classification &amp; Marking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822960" y="4846320"/>
            <a:ext cx="2971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B7C8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Identify packet type and tag it (DSCP / 802.1p) so devices downstream know its priority.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343400" y="3246120"/>
            <a:ext cx="3520440" cy="2606040"/>
          </a:xfrm>
          <a:prstGeom prst="roundRect">
            <a:avLst>
              <a:gd name="adj" fmla="val 3509"/>
            </a:avLst>
          </a:prstGeom>
          <a:solidFill>
            <a:srgbClr val="0F2A3F"/>
          </a:solidFill>
          <a:ln/>
        </p:spPr>
      </p:sp>
      <p:sp>
        <p:nvSpPr>
          <p:cNvPr id="12" name="Shape 9"/>
          <p:cNvSpPr/>
          <p:nvPr/>
        </p:nvSpPr>
        <p:spPr>
          <a:xfrm>
            <a:off x="4617720" y="3520440"/>
            <a:ext cx="640080" cy="640080"/>
          </a:xfrm>
          <a:prstGeom prst="ellipse">
            <a:avLst/>
          </a:prstGeom>
          <a:solidFill>
            <a:srgbClr val="2E9E9E"/>
          </a:solidFill>
          <a:ln/>
        </p:spPr>
      </p:sp>
      <p:pic>
        <p:nvPicPr>
          <p:cNvPr id="13" name="Image 1" descr="icon_queu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4880" y="3657600"/>
            <a:ext cx="365760" cy="36576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617720" y="4297680"/>
            <a:ext cx="2971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Queuing &amp; Scheduling</a:t>
            </a:r>
            <a:endParaRPr lang="en-US" sz="1500" dirty="0"/>
          </a:p>
        </p:txBody>
      </p:sp>
      <p:sp>
        <p:nvSpPr>
          <p:cNvPr id="15" name="Text 11"/>
          <p:cNvSpPr/>
          <p:nvPr/>
        </p:nvSpPr>
        <p:spPr>
          <a:xfrm>
            <a:off x="4617720" y="4846320"/>
            <a:ext cx="2971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B7C8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Sort marked packets into queues and decide the order they leave an interface.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8138160" y="3246120"/>
            <a:ext cx="3520440" cy="2606040"/>
          </a:xfrm>
          <a:prstGeom prst="roundRect">
            <a:avLst>
              <a:gd name="adj" fmla="val 3509"/>
            </a:avLst>
          </a:prstGeom>
          <a:solidFill>
            <a:srgbClr val="0F2A3F"/>
          </a:solidFill>
          <a:ln/>
        </p:spPr>
      </p:sp>
      <p:sp>
        <p:nvSpPr>
          <p:cNvPr id="17" name="Shape 13"/>
          <p:cNvSpPr/>
          <p:nvPr/>
        </p:nvSpPr>
        <p:spPr>
          <a:xfrm>
            <a:off x="8412480" y="3520440"/>
            <a:ext cx="640080" cy="640080"/>
          </a:xfrm>
          <a:prstGeom prst="ellipse">
            <a:avLst/>
          </a:prstGeom>
          <a:solidFill>
            <a:srgbClr val="2E9E9E"/>
          </a:solidFill>
          <a:ln/>
        </p:spPr>
      </p:sp>
      <p:pic>
        <p:nvPicPr>
          <p:cNvPr id="18" name="Image 2" descr="icon_shap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49640" y="3657600"/>
            <a:ext cx="365760" cy="36576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412480" y="4297680"/>
            <a:ext cx="2971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Shaping &amp; Policing</a:t>
            </a:r>
            <a:endParaRPr lang="en-US" sz="1500" dirty="0"/>
          </a:p>
        </p:txBody>
      </p:sp>
      <p:sp>
        <p:nvSpPr>
          <p:cNvPr id="20" name="Text 15"/>
          <p:cNvSpPr/>
          <p:nvPr/>
        </p:nvSpPr>
        <p:spPr>
          <a:xfrm>
            <a:off x="8412480" y="4846320"/>
            <a:ext cx="2971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B7C8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Smooth or cap traffic flow to match available bandwidth and contracted rates.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057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kern="0" spc="200" dirty="0">
                <a:solidFill>
                  <a:srgbClr val="2E9E9E"/>
                </a:solidFill>
              </a:rPr>
              <a:t>WHY IT MATTERS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2545"/>
                </a:solidFill>
              </a:rPr>
              <a:t>Links have finite capacity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234440"/>
            <a:ext cx="10789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3345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link — an office WAN connection, a home router's uplink, a data-center port — can carry only so much traffic at once. QoS decides what happens when demand exceeds that capacity.</a:t>
            </a:r>
            <a:endParaRPr lang="en-US" sz="14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548640" y="2057400"/>
          <a:ext cx="5120640" cy="35661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Shape 3"/>
          <p:cNvSpPr/>
          <p:nvPr/>
        </p:nvSpPr>
        <p:spPr>
          <a:xfrm>
            <a:off x="6035040" y="2057400"/>
            <a:ext cx="5577840" cy="3566160"/>
          </a:xfrm>
          <a:prstGeom prst="roundRect">
            <a:avLst>
              <a:gd name="adj" fmla="val 2564"/>
            </a:avLst>
          </a:prstGeom>
          <a:solidFill>
            <a:srgbClr val="F7FAFA"/>
          </a:solidFill>
          <a:ln/>
        </p:spPr>
      </p:sp>
      <p:sp>
        <p:nvSpPr>
          <p:cNvPr id="7" name="Text 4"/>
          <p:cNvSpPr/>
          <p:nvPr/>
        </p:nvSpPr>
        <p:spPr>
          <a:xfrm>
            <a:off x="6355080" y="228600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545"/>
                </a:solidFill>
              </a:rPr>
              <a:t>What congestion does without QoS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6355080" y="2862072"/>
            <a:ext cx="109728" cy="109728"/>
          </a:xfrm>
          <a:prstGeom prst="ellipse">
            <a:avLst/>
          </a:prstGeom>
          <a:solidFill>
            <a:srgbClr val="D98E27"/>
          </a:solidFill>
          <a:ln/>
        </p:spPr>
      </p:sp>
      <p:sp>
        <p:nvSpPr>
          <p:cNvPr id="9" name="Text 6"/>
          <p:cNvSpPr/>
          <p:nvPr/>
        </p:nvSpPr>
        <p:spPr>
          <a:xfrm>
            <a:off x="6583680" y="2715768"/>
            <a:ext cx="4800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3345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Voice and video calls break up, echo, or freeze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6355080" y="3520440"/>
            <a:ext cx="109728" cy="109728"/>
          </a:xfrm>
          <a:prstGeom prst="ellipse">
            <a:avLst/>
          </a:prstGeom>
          <a:solidFill>
            <a:srgbClr val="D98E27"/>
          </a:solidFill>
          <a:ln/>
        </p:spPr>
      </p:sp>
      <p:sp>
        <p:nvSpPr>
          <p:cNvPr id="11" name="Text 8"/>
          <p:cNvSpPr/>
          <p:nvPr/>
        </p:nvSpPr>
        <p:spPr>
          <a:xfrm>
            <a:off x="6583680" y="3374136"/>
            <a:ext cx="4800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3345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Important business traffic queues behind bulk transfers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6355080" y="4178808"/>
            <a:ext cx="109728" cy="109728"/>
          </a:xfrm>
          <a:prstGeom prst="ellipse">
            <a:avLst/>
          </a:prstGeom>
          <a:solidFill>
            <a:srgbClr val="D98E27"/>
          </a:solidFill>
          <a:ln/>
        </p:spPr>
      </p:sp>
      <p:sp>
        <p:nvSpPr>
          <p:cNvPr id="13" name="Text 10"/>
          <p:cNvSpPr/>
          <p:nvPr/>
        </p:nvSpPr>
        <p:spPr>
          <a:xfrm>
            <a:off x="6583680" y="4032504"/>
            <a:ext cx="4800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3345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Packet loss rises, forcing retransmissions that add more load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6355080" y="4837176"/>
            <a:ext cx="109728" cy="109728"/>
          </a:xfrm>
          <a:prstGeom prst="ellipse">
            <a:avLst/>
          </a:prstGeom>
          <a:solidFill>
            <a:srgbClr val="D98E27"/>
          </a:solidFill>
          <a:ln/>
        </p:spPr>
      </p:sp>
      <p:sp>
        <p:nvSpPr>
          <p:cNvPr id="15" name="Text 12"/>
          <p:cNvSpPr/>
          <p:nvPr/>
        </p:nvSpPr>
        <p:spPr>
          <a:xfrm>
            <a:off x="6583680" y="4690872"/>
            <a:ext cx="4800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3345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Users perceive the whole network as 'slow', even though total throughput may be fine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78308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kern="0" spc="200" dirty="0">
                <a:solidFill>
                  <a:srgbClr val="2E9E9E"/>
                </a:solidFill>
              </a:rPr>
              <a:t>KEY METRICS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845913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2545"/>
                </a:solidFill>
              </a:rPr>
              <a:t>What QoS actually measures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2651760" cy="4206240"/>
          </a:xfrm>
          <a:prstGeom prst="roundRect">
            <a:avLst>
              <a:gd name="adj" fmla="val 3448"/>
            </a:avLst>
          </a:prstGeom>
          <a:solidFill>
            <a:srgbClr val="F7FAFA"/>
          </a:solidFill>
          <a:ln/>
          <a:effectLst>
            <a:outerShdw blurRad="101600" dist="25400" dir="5400000" algn="bl" rotWithShape="0">
              <a:srgbClr val="1B2B33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508760" y="1920240"/>
            <a:ext cx="731520" cy="731520"/>
          </a:xfrm>
          <a:prstGeom prst="ellipse">
            <a:avLst/>
          </a:prstGeom>
          <a:solidFill>
            <a:srgbClr val="0B5D6B"/>
          </a:solidFill>
          <a:ln/>
        </p:spPr>
      </p:sp>
      <p:pic>
        <p:nvPicPr>
          <p:cNvPr id="6" name="Image 0" descr="icon_bandwidth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73352" y="2084832"/>
            <a:ext cx="402336" cy="40233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85800" y="283464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0B2545"/>
                </a:solidFill>
              </a:rPr>
              <a:t>Bandwidth</a:t>
            </a:r>
            <a:endParaRPr lang="en-US" sz="1550" dirty="0"/>
          </a:p>
        </p:txBody>
      </p:sp>
      <p:sp>
        <p:nvSpPr>
          <p:cNvPr id="8" name="Shape 5"/>
          <p:cNvSpPr/>
          <p:nvPr/>
        </p:nvSpPr>
        <p:spPr>
          <a:xfrm>
            <a:off x="1005840" y="3337560"/>
            <a:ext cx="1737360" cy="0"/>
          </a:xfrm>
          <a:prstGeom prst="line">
            <a:avLst/>
          </a:prstGeom>
          <a:noFill/>
          <a:ln w="19050">
            <a:solidFill>
              <a:srgbClr val="2E9E9E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31520" y="3474720"/>
            <a:ext cx="2286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200" i="1" dirty="0">
                <a:solidFill>
                  <a:srgbClr val="0B5D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much data can flow at once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731520" y="4297680"/>
            <a:ext cx="22860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00" dirty="0">
                <a:solidFill>
                  <a:srgbClr val="4451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Available capacity, in bits per second, on a link or path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3429000" y="1600200"/>
            <a:ext cx="2651760" cy="4206240"/>
          </a:xfrm>
          <a:prstGeom prst="roundRect">
            <a:avLst>
              <a:gd name="adj" fmla="val 3448"/>
            </a:avLst>
          </a:prstGeom>
          <a:solidFill>
            <a:srgbClr val="F7FAFA"/>
          </a:solidFill>
          <a:ln/>
          <a:effectLst>
            <a:outerShdw blurRad="101600" dist="25400" dir="5400000" algn="bl" rotWithShape="0">
              <a:srgbClr val="1B2B33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389120" y="1920240"/>
            <a:ext cx="731520" cy="731520"/>
          </a:xfrm>
          <a:prstGeom prst="ellipse">
            <a:avLst/>
          </a:prstGeom>
          <a:solidFill>
            <a:srgbClr val="0B5D6B"/>
          </a:solidFill>
          <a:ln/>
        </p:spPr>
      </p:sp>
      <p:pic>
        <p:nvPicPr>
          <p:cNvPr id="13" name="Image 1" descr="icon_latency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53712" y="2084832"/>
            <a:ext cx="402336" cy="402336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566160" y="283464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0B2545"/>
                </a:solidFill>
              </a:rPr>
              <a:t>Latency</a:t>
            </a:r>
            <a:endParaRPr lang="en-US" sz="1550" dirty="0"/>
          </a:p>
        </p:txBody>
      </p:sp>
      <p:sp>
        <p:nvSpPr>
          <p:cNvPr id="15" name="Shape 11"/>
          <p:cNvSpPr/>
          <p:nvPr/>
        </p:nvSpPr>
        <p:spPr>
          <a:xfrm>
            <a:off x="3886200" y="3337560"/>
            <a:ext cx="1737360" cy="0"/>
          </a:xfrm>
          <a:prstGeom prst="line">
            <a:avLst/>
          </a:prstGeom>
          <a:noFill/>
          <a:ln w="19050">
            <a:solidFill>
              <a:srgbClr val="2E9E9E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3611880" y="3474720"/>
            <a:ext cx="2286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200" i="1" dirty="0">
                <a:solidFill>
                  <a:srgbClr val="0B5D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long a packet takes to arrive</a:t>
            </a:r>
            <a:endParaRPr lang="en-US" sz="1200" dirty="0"/>
          </a:p>
        </p:txBody>
      </p:sp>
      <p:sp>
        <p:nvSpPr>
          <p:cNvPr id="17" name="Text 13"/>
          <p:cNvSpPr/>
          <p:nvPr/>
        </p:nvSpPr>
        <p:spPr>
          <a:xfrm>
            <a:off x="3611880" y="4297680"/>
            <a:ext cx="22860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00" dirty="0">
                <a:solidFill>
                  <a:srgbClr val="4451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One-way or round-trip delay, typically in milliseconds</a:t>
            </a:r>
            <a:endParaRPr lang="en-US" sz="1100" dirty="0"/>
          </a:p>
        </p:txBody>
      </p:sp>
      <p:sp>
        <p:nvSpPr>
          <p:cNvPr id="18" name="Shape 14"/>
          <p:cNvSpPr/>
          <p:nvPr/>
        </p:nvSpPr>
        <p:spPr>
          <a:xfrm>
            <a:off x="6309360" y="1600200"/>
            <a:ext cx="2651760" cy="4206240"/>
          </a:xfrm>
          <a:prstGeom prst="roundRect">
            <a:avLst>
              <a:gd name="adj" fmla="val 3448"/>
            </a:avLst>
          </a:prstGeom>
          <a:solidFill>
            <a:srgbClr val="F7FAFA"/>
          </a:solidFill>
          <a:ln/>
          <a:effectLst>
            <a:outerShdw blurRad="101600" dist="25400" dir="5400000" algn="bl" rotWithShape="0">
              <a:srgbClr val="1B2B33">
                <a:alpha val="12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7269480" y="1920240"/>
            <a:ext cx="731520" cy="731520"/>
          </a:xfrm>
          <a:prstGeom prst="ellipse">
            <a:avLst/>
          </a:prstGeom>
          <a:solidFill>
            <a:srgbClr val="0B5D6B"/>
          </a:solidFill>
          <a:ln/>
        </p:spPr>
      </p:sp>
      <p:pic>
        <p:nvPicPr>
          <p:cNvPr id="20" name="Image 2" descr="icon_jitter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34072" y="2084832"/>
            <a:ext cx="402336" cy="402336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6446520" y="283464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0B2545"/>
                </a:solidFill>
              </a:rPr>
              <a:t>Jitter</a:t>
            </a:r>
            <a:endParaRPr lang="en-US" sz="1550" dirty="0"/>
          </a:p>
        </p:txBody>
      </p:sp>
      <p:sp>
        <p:nvSpPr>
          <p:cNvPr id="22" name="Shape 17"/>
          <p:cNvSpPr/>
          <p:nvPr/>
        </p:nvSpPr>
        <p:spPr>
          <a:xfrm>
            <a:off x="6766560" y="3337560"/>
            <a:ext cx="1737360" cy="0"/>
          </a:xfrm>
          <a:prstGeom prst="line">
            <a:avLst/>
          </a:prstGeom>
          <a:noFill/>
          <a:ln w="19050">
            <a:solidFill>
              <a:srgbClr val="2E9E9E"/>
            </a:solidFill>
            <a:prstDash val="solid"/>
          </a:ln>
        </p:spPr>
      </p:sp>
      <p:sp>
        <p:nvSpPr>
          <p:cNvPr id="23" name="Text 18"/>
          <p:cNvSpPr/>
          <p:nvPr/>
        </p:nvSpPr>
        <p:spPr>
          <a:xfrm>
            <a:off x="6492240" y="3474720"/>
            <a:ext cx="2286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200" i="1" dirty="0">
                <a:solidFill>
                  <a:srgbClr val="0B5D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uneven the delay is</a:t>
            </a:r>
            <a:endParaRPr lang="en-US" sz="1200" dirty="0"/>
          </a:p>
        </p:txBody>
      </p:sp>
      <p:sp>
        <p:nvSpPr>
          <p:cNvPr id="24" name="Text 19"/>
          <p:cNvSpPr/>
          <p:nvPr/>
        </p:nvSpPr>
        <p:spPr>
          <a:xfrm>
            <a:off x="6492240" y="4297680"/>
            <a:ext cx="22860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00" dirty="0">
                <a:solidFill>
                  <a:srgbClr val="4451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Variation in inter-packet arrival time; disrupts real-time audio/video</a:t>
            </a:r>
            <a:endParaRPr lang="en-US" sz="1100" dirty="0"/>
          </a:p>
        </p:txBody>
      </p:sp>
      <p:sp>
        <p:nvSpPr>
          <p:cNvPr id="25" name="Shape 20"/>
          <p:cNvSpPr/>
          <p:nvPr/>
        </p:nvSpPr>
        <p:spPr>
          <a:xfrm>
            <a:off x="9189720" y="1600200"/>
            <a:ext cx="2651760" cy="4206240"/>
          </a:xfrm>
          <a:prstGeom prst="roundRect">
            <a:avLst>
              <a:gd name="adj" fmla="val 3448"/>
            </a:avLst>
          </a:prstGeom>
          <a:solidFill>
            <a:srgbClr val="F7FAFA"/>
          </a:solidFill>
          <a:ln/>
          <a:effectLst>
            <a:outerShdw blurRad="101600" dist="25400" dir="5400000" algn="bl" rotWithShape="0">
              <a:srgbClr val="1B2B33">
                <a:alpha val="12000"/>
              </a:srgbClr>
            </a:outerShdw>
          </a:effectLst>
        </p:spPr>
      </p:sp>
      <p:sp>
        <p:nvSpPr>
          <p:cNvPr id="26" name="Shape 21"/>
          <p:cNvSpPr/>
          <p:nvPr/>
        </p:nvSpPr>
        <p:spPr>
          <a:xfrm>
            <a:off x="10149840" y="1920240"/>
            <a:ext cx="731520" cy="731520"/>
          </a:xfrm>
          <a:prstGeom prst="ellipse">
            <a:avLst/>
          </a:prstGeom>
          <a:solidFill>
            <a:srgbClr val="0B5D6B"/>
          </a:solidFill>
          <a:ln/>
        </p:spPr>
      </p:sp>
      <p:pic>
        <p:nvPicPr>
          <p:cNvPr id="27" name="Image 3" descr="icon_loss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314432" y="2084832"/>
            <a:ext cx="402336" cy="402336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9326880" y="283464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0B2545"/>
                </a:solidFill>
              </a:rPr>
              <a:t>Packet Loss</a:t>
            </a:r>
            <a:endParaRPr lang="en-US" sz="1550" dirty="0"/>
          </a:p>
        </p:txBody>
      </p:sp>
      <p:sp>
        <p:nvSpPr>
          <p:cNvPr id="29" name="Shape 23"/>
          <p:cNvSpPr/>
          <p:nvPr/>
        </p:nvSpPr>
        <p:spPr>
          <a:xfrm>
            <a:off x="9646920" y="3337560"/>
            <a:ext cx="1737360" cy="0"/>
          </a:xfrm>
          <a:prstGeom prst="line">
            <a:avLst/>
          </a:prstGeom>
          <a:noFill/>
          <a:ln w="19050">
            <a:solidFill>
              <a:srgbClr val="2E9E9E"/>
            </a:solidFill>
            <a:prstDash val="solid"/>
          </a:ln>
        </p:spPr>
      </p:sp>
      <p:sp>
        <p:nvSpPr>
          <p:cNvPr id="30" name="Text 24"/>
          <p:cNvSpPr/>
          <p:nvPr/>
        </p:nvSpPr>
        <p:spPr>
          <a:xfrm>
            <a:off x="9372600" y="3474720"/>
            <a:ext cx="2286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200" i="1" dirty="0">
                <a:solidFill>
                  <a:srgbClr val="0B5D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much data never arrives</a:t>
            </a:r>
            <a:endParaRPr lang="en-US" sz="1200" dirty="0"/>
          </a:p>
        </p:txBody>
      </p:sp>
      <p:sp>
        <p:nvSpPr>
          <p:cNvPr id="31" name="Text 25"/>
          <p:cNvSpPr/>
          <p:nvPr/>
        </p:nvSpPr>
        <p:spPr>
          <a:xfrm>
            <a:off x="9372600" y="4297680"/>
            <a:ext cx="22860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00" dirty="0">
                <a:solidFill>
                  <a:srgbClr val="4451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Percentage of packets dropped, often during congestion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kern="0" spc="200" dirty="0">
                <a:solidFill>
                  <a:srgbClr val="2E9E9E"/>
                </a:solidFill>
              </a:rPr>
              <a:t>HOW IT WORKS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2545"/>
                </a:solidFill>
              </a:rPr>
              <a:t>From packet arrival to the wire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2011680" cy="3108960"/>
          </a:xfrm>
          <a:prstGeom prst="roundRect">
            <a:avLst>
              <a:gd name="adj" fmla="val 4545"/>
            </a:avLst>
          </a:prstGeom>
          <a:solidFill>
            <a:srgbClr val="0B2545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205740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8FD7D9"/>
                </a:solidFill>
              </a:rPr>
              <a:t>01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85800" y="260604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</a:rPr>
              <a:t>Classify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85800" y="3063240"/>
            <a:ext cx="17373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DCE9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Inspect headers (port, protocol, DSCP) to identify traffic type.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 rot="5400000">
            <a:off x="2578608" y="3337560"/>
            <a:ext cx="164592" cy="256032"/>
          </a:xfrm>
          <a:prstGeom prst="triangle">
            <a:avLst/>
          </a:prstGeom>
          <a:solidFill>
            <a:srgbClr val="5B6B73"/>
          </a:solidFill>
          <a:ln/>
        </p:spPr>
      </p:sp>
      <p:sp>
        <p:nvSpPr>
          <p:cNvPr id="9" name="Shape 7"/>
          <p:cNvSpPr/>
          <p:nvPr/>
        </p:nvSpPr>
        <p:spPr>
          <a:xfrm>
            <a:off x="2743200" y="1920240"/>
            <a:ext cx="2011680" cy="3108960"/>
          </a:xfrm>
          <a:prstGeom prst="roundRect">
            <a:avLst>
              <a:gd name="adj" fmla="val 4545"/>
            </a:avLst>
          </a:prstGeom>
          <a:solidFill>
            <a:srgbClr val="0B5D6B"/>
          </a:solidFill>
          <a:ln/>
        </p:spPr>
      </p:sp>
      <p:sp>
        <p:nvSpPr>
          <p:cNvPr id="10" name="Text 8"/>
          <p:cNvSpPr/>
          <p:nvPr/>
        </p:nvSpPr>
        <p:spPr>
          <a:xfrm>
            <a:off x="2880360" y="205740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8FD7D9"/>
                </a:solidFill>
              </a:rPr>
              <a:t>02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2880360" y="260604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</a:rPr>
              <a:t>Mark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2880360" y="3063240"/>
            <a:ext cx="17373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DCE9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Tag the packet (DSCP/CoS) so every hop treats it consistently.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 rot="5400000">
            <a:off x="4773168" y="3337560"/>
            <a:ext cx="164592" cy="256032"/>
          </a:xfrm>
          <a:prstGeom prst="triangle">
            <a:avLst/>
          </a:prstGeom>
          <a:solidFill>
            <a:srgbClr val="5B6B73"/>
          </a:solidFill>
          <a:ln/>
        </p:spPr>
      </p:sp>
      <p:sp>
        <p:nvSpPr>
          <p:cNvPr id="14" name="Shape 12"/>
          <p:cNvSpPr/>
          <p:nvPr/>
        </p:nvSpPr>
        <p:spPr>
          <a:xfrm>
            <a:off x="4937760" y="1920240"/>
            <a:ext cx="2011680" cy="3108960"/>
          </a:xfrm>
          <a:prstGeom prst="roundRect">
            <a:avLst>
              <a:gd name="adj" fmla="val 4545"/>
            </a:avLst>
          </a:prstGeom>
          <a:solidFill>
            <a:srgbClr val="0B2545"/>
          </a:solidFill>
          <a:ln/>
        </p:spPr>
      </p:sp>
      <p:sp>
        <p:nvSpPr>
          <p:cNvPr id="15" name="Text 13"/>
          <p:cNvSpPr/>
          <p:nvPr/>
        </p:nvSpPr>
        <p:spPr>
          <a:xfrm>
            <a:off x="5074920" y="205740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8FD7D9"/>
                </a:solidFill>
              </a:rPr>
              <a:t>03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5074920" y="260604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</a:rPr>
              <a:t>Queue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5074920" y="3063240"/>
            <a:ext cx="17373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DCE9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Place the packet into a priority, weighted, or low-latency queue.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 rot="5400000">
            <a:off x="6967728" y="3337560"/>
            <a:ext cx="164592" cy="256032"/>
          </a:xfrm>
          <a:prstGeom prst="triangle">
            <a:avLst/>
          </a:prstGeom>
          <a:solidFill>
            <a:srgbClr val="5B6B73"/>
          </a:solidFill>
          <a:ln/>
        </p:spPr>
      </p:sp>
      <p:sp>
        <p:nvSpPr>
          <p:cNvPr id="19" name="Shape 17"/>
          <p:cNvSpPr/>
          <p:nvPr/>
        </p:nvSpPr>
        <p:spPr>
          <a:xfrm>
            <a:off x="7132320" y="1920240"/>
            <a:ext cx="2011680" cy="3108960"/>
          </a:xfrm>
          <a:prstGeom prst="roundRect">
            <a:avLst>
              <a:gd name="adj" fmla="val 4545"/>
            </a:avLst>
          </a:prstGeom>
          <a:solidFill>
            <a:srgbClr val="0B5D6B"/>
          </a:solidFill>
          <a:ln/>
        </p:spPr>
      </p:sp>
      <p:sp>
        <p:nvSpPr>
          <p:cNvPr id="20" name="Text 18"/>
          <p:cNvSpPr/>
          <p:nvPr/>
        </p:nvSpPr>
        <p:spPr>
          <a:xfrm>
            <a:off x="7269480" y="205740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8FD7D9"/>
                </a:solidFill>
              </a:rPr>
              <a:t>04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7269480" y="260604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</a:rPr>
              <a:t>Schedule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7269480" y="3063240"/>
            <a:ext cx="17373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DCE9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scheduler (e.g. WFQ, LLQ) decides transmission order per queue.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 rot="5400000">
            <a:off x="9162288" y="3337560"/>
            <a:ext cx="164592" cy="256032"/>
          </a:xfrm>
          <a:prstGeom prst="triangle">
            <a:avLst/>
          </a:prstGeom>
          <a:solidFill>
            <a:srgbClr val="5B6B73"/>
          </a:solidFill>
          <a:ln/>
        </p:spPr>
      </p:sp>
      <p:sp>
        <p:nvSpPr>
          <p:cNvPr id="24" name="Shape 22"/>
          <p:cNvSpPr/>
          <p:nvPr/>
        </p:nvSpPr>
        <p:spPr>
          <a:xfrm>
            <a:off x="9326880" y="1920240"/>
            <a:ext cx="2011680" cy="3108960"/>
          </a:xfrm>
          <a:prstGeom prst="roundRect">
            <a:avLst>
              <a:gd name="adj" fmla="val 4545"/>
            </a:avLst>
          </a:prstGeom>
          <a:solidFill>
            <a:srgbClr val="0B2545"/>
          </a:solidFill>
          <a:ln/>
        </p:spPr>
      </p:sp>
      <p:sp>
        <p:nvSpPr>
          <p:cNvPr id="25" name="Text 23"/>
          <p:cNvSpPr/>
          <p:nvPr/>
        </p:nvSpPr>
        <p:spPr>
          <a:xfrm>
            <a:off x="9464040" y="205740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8FD7D9"/>
                </a:solidFill>
              </a:rPr>
              <a:t>05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9464040" y="260604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</a:rPr>
              <a:t>Shape / Police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9464040" y="3063240"/>
            <a:ext cx="17373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DCE9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Smooth bursts or drop/re-mark traffic exceeding contracted rates.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548640" y="53492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5B6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pipeline runs on every QoS-aware device the packet crosses — routers, switches, and firewalls — so consistent marking end-to-end matters as much as any single step.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057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kern="0" spc="200" dirty="0">
                <a:solidFill>
                  <a:srgbClr val="2E9E9E"/>
                </a:solidFill>
              </a:rPr>
              <a:t>QoS MODELS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2545"/>
                </a:solidFill>
              </a:rPr>
              <a:t>Three approaches, three trade-offs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2743200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E1E7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58368" y="1600200"/>
            <a:ext cx="2523744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10000"/>
              </a:lnSpc>
              <a:buNone/>
            </a:pP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291840" y="1600200"/>
            <a:ext cx="2651760" cy="777240"/>
          </a:xfrm>
          <a:prstGeom prst="rect">
            <a:avLst/>
          </a:prstGeom>
          <a:solidFill>
            <a:srgbClr val="0B2545"/>
          </a:solidFill>
          <a:ln w="9525">
            <a:solidFill>
              <a:srgbClr val="E1E7E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401568" y="1600200"/>
            <a:ext cx="2432304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Effort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943600" y="1600200"/>
            <a:ext cx="2651760" cy="777240"/>
          </a:xfrm>
          <a:prstGeom prst="rect">
            <a:avLst/>
          </a:prstGeom>
          <a:solidFill>
            <a:srgbClr val="0B2545"/>
          </a:solidFill>
          <a:ln w="9525">
            <a:solidFill>
              <a:srgbClr val="E1E7E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053328" y="1600200"/>
            <a:ext cx="2432304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IntServ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8595360" y="1600200"/>
            <a:ext cx="2651760" cy="777240"/>
          </a:xfrm>
          <a:prstGeom prst="rect">
            <a:avLst/>
          </a:prstGeom>
          <a:solidFill>
            <a:srgbClr val="0B2545"/>
          </a:solidFill>
          <a:ln w="9525">
            <a:solidFill>
              <a:srgbClr val="E1E7E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705088" y="1600200"/>
            <a:ext cx="2432304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DiffServ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48640" y="2377440"/>
            <a:ext cx="2743200" cy="777240"/>
          </a:xfrm>
          <a:prstGeom prst="rect">
            <a:avLst/>
          </a:prstGeom>
          <a:solidFill>
            <a:srgbClr val="F7FAFA"/>
          </a:solidFill>
          <a:ln w="9525">
            <a:solidFill>
              <a:srgbClr val="E1E7E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8368" y="2377440"/>
            <a:ext cx="2523744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it treats traffic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3291840" y="2377440"/>
            <a:ext cx="2651760" cy="777240"/>
          </a:xfrm>
          <a:prstGeom prst="rect">
            <a:avLst/>
          </a:prstGeom>
          <a:solidFill>
            <a:srgbClr val="F7FAFA"/>
          </a:solidFill>
          <a:ln w="9525">
            <a:solidFill>
              <a:srgbClr val="E1E7E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401568" y="2377440"/>
            <a:ext cx="2432304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50" dirty="0">
                <a:solidFill>
                  <a:srgbClr val="3345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packets equal, FIFO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943600" y="2377440"/>
            <a:ext cx="2651760" cy="777240"/>
          </a:xfrm>
          <a:prstGeom prst="rect">
            <a:avLst/>
          </a:prstGeom>
          <a:solidFill>
            <a:srgbClr val="F7FAFA"/>
          </a:solidFill>
          <a:ln w="9525">
            <a:solidFill>
              <a:srgbClr val="E1E7E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053328" y="2377440"/>
            <a:ext cx="2432304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50" dirty="0">
                <a:solidFill>
                  <a:srgbClr val="3345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Reserves resources per flow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8595360" y="2377440"/>
            <a:ext cx="2651760" cy="777240"/>
          </a:xfrm>
          <a:prstGeom prst="rect">
            <a:avLst/>
          </a:prstGeom>
          <a:solidFill>
            <a:srgbClr val="F7FAFA"/>
          </a:solidFill>
          <a:ln w="9525">
            <a:solidFill>
              <a:srgbClr val="E1E7E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705088" y="2377440"/>
            <a:ext cx="2432304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50" dirty="0">
                <a:solidFill>
                  <a:srgbClr val="3345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Classifies traffic into a few service classes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48640" y="3154680"/>
            <a:ext cx="2743200" cy="777240"/>
          </a:xfrm>
          <a:prstGeom prst="rect">
            <a:avLst/>
          </a:prstGeom>
          <a:solidFill>
            <a:srgbClr val="F7FAFA"/>
          </a:solidFill>
          <a:ln w="9525">
            <a:solidFill>
              <a:srgbClr val="E1E7E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58368" y="3154680"/>
            <a:ext cx="2523744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Scalability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3291840" y="3154680"/>
            <a:ext cx="2651760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E1E7E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401568" y="3154680"/>
            <a:ext cx="2432304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50" dirty="0">
                <a:solidFill>
                  <a:srgbClr val="3345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Excellent — no state kept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5943600" y="3154680"/>
            <a:ext cx="2651760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E1E7E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053328" y="3154680"/>
            <a:ext cx="2432304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50" dirty="0">
                <a:solidFill>
                  <a:srgbClr val="3345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Poor — state per flow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8595360" y="3154680"/>
            <a:ext cx="2651760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E1E7E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705088" y="3154680"/>
            <a:ext cx="2432304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50" dirty="0">
                <a:solidFill>
                  <a:srgbClr val="3345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Good — state per class, not per flow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548640" y="3931920"/>
            <a:ext cx="2743200" cy="777240"/>
          </a:xfrm>
          <a:prstGeom prst="rect">
            <a:avLst/>
          </a:prstGeom>
          <a:solidFill>
            <a:srgbClr val="F7FAFA"/>
          </a:solidFill>
          <a:ln w="9525">
            <a:solidFill>
              <a:srgbClr val="E1E7E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58368" y="3931920"/>
            <a:ext cx="2523744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Guarantee level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3291840" y="3931920"/>
            <a:ext cx="2651760" cy="777240"/>
          </a:xfrm>
          <a:prstGeom prst="rect">
            <a:avLst/>
          </a:prstGeom>
          <a:solidFill>
            <a:srgbClr val="F7FAFA"/>
          </a:solidFill>
          <a:ln w="9525">
            <a:solidFill>
              <a:srgbClr val="E1E7E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401568" y="3931920"/>
            <a:ext cx="2432304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50" dirty="0">
                <a:solidFill>
                  <a:srgbClr val="3345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None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5943600" y="3931920"/>
            <a:ext cx="2651760" cy="777240"/>
          </a:xfrm>
          <a:prstGeom prst="rect">
            <a:avLst/>
          </a:prstGeom>
          <a:solidFill>
            <a:srgbClr val="F7FAFA"/>
          </a:solidFill>
          <a:ln w="9525">
            <a:solidFill>
              <a:srgbClr val="E1E7E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053328" y="3931920"/>
            <a:ext cx="2432304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50" dirty="0">
                <a:solidFill>
                  <a:srgbClr val="3345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Strict, end-to-end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8595360" y="3931920"/>
            <a:ext cx="2651760" cy="777240"/>
          </a:xfrm>
          <a:prstGeom prst="rect">
            <a:avLst/>
          </a:prstGeom>
          <a:solidFill>
            <a:srgbClr val="F7FAFA"/>
          </a:solidFill>
          <a:ln w="9525">
            <a:solidFill>
              <a:srgbClr val="E1E7E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705088" y="3931920"/>
            <a:ext cx="2432304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50" dirty="0">
                <a:solidFill>
                  <a:srgbClr val="3345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Relative priority, not absolute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548640" y="4709160"/>
            <a:ext cx="2743200" cy="777240"/>
          </a:xfrm>
          <a:prstGeom prst="rect">
            <a:avLst/>
          </a:prstGeom>
          <a:solidFill>
            <a:srgbClr val="F7FAFA"/>
          </a:solidFill>
          <a:ln w="9525">
            <a:solidFill>
              <a:srgbClr val="E1E7E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58368" y="4709160"/>
            <a:ext cx="2523744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Typical use</a:t>
            </a:r>
            <a:endParaRPr lang="en-US" sz="1250" dirty="0"/>
          </a:p>
        </p:txBody>
      </p:sp>
      <p:sp>
        <p:nvSpPr>
          <p:cNvPr id="38" name="Shape 36"/>
          <p:cNvSpPr/>
          <p:nvPr/>
        </p:nvSpPr>
        <p:spPr>
          <a:xfrm>
            <a:off x="3291840" y="4709160"/>
            <a:ext cx="2651760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E1E7E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401568" y="4709160"/>
            <a:ext cx="2432304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50" dirty="0">
                <a:solidFill>
                  <a:srgbClr val="3345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Default Internet traffic</a:t>
            </a:r>
            <a:endParaRPr lang="en-US" sz="1150" dirty="0"/>
          </a:p>
        </p:txBody>
      </p:sp>
      <p:sp>
        <p:nvSpPr>
          <p:cNvPr id="40" name="Shape 38"/>
          <p:cNvSpPr/>
          <p:nvPr/>
        </p:nvSpPr>
        <p:spPr>
          <a:xfrm>
            <a:off x="5943600" y="4709160"/>
            <a:ext cx="2651760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E1E7E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053328" y="4709160"/>
            <a:ext cx="2432304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50" dirty="0">
                <a:solidFill>
                  <a:srgbClr val="3345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Small, controlled networks</a:t>
            </a:r>
            <a:endParaRPr lang="en-US" sz="1150" dirty="0"/>
          </a:p>
        </p:txBody>
      </p:sp>
      <p:sp>
        <p:nvSpPr>
          <p:cNvPr id="42" name="Shape 40"/>
          <p:cNvSpPr/>
          <p:nvPr/>
        </p:nvSpPr>
        <p:spPr>
          <a:xfrm>
            <a:off x="8595360" y="4709160"/>
            <a:ext cx="2651760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E1E7E8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8705088" y="4709160"/>
            <a:ext cx="2432304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50" dirty="0">
                <a:solidFill>
                  <a:srgbClr val="3345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 &amp; ISP backbones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25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80060" y="260604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kern="0" spc="200" dirty="0">
                <a:solidFill>
                  <a:srgbClr val="2E9E9E"/>
                </a:solidFill>
              </a:rPr>
              <a:t>TAKEAWAYS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QoS in one sentence, two ways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349240" cy="1691640"/>
          </a:xfrm>
          <a:prstGeom prst="roundRect">
            <a:avLst>
              <a:gd name="adj" fmla="val 5405"/>
            </a:avLst>
          </a:prstGeom>
          <a:solidFill>
            <a:srgbClr val="0F2A3F"/>
          </a:solidFill>
          <a:ln w="12700">
            <a:solidFill>
              <a:srgbClr val="2E9E9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7830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2E9E9E"/>
                </a:solidFill>
              </a:rPr>
              <a:t>SIMPLE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22960" y="2057400"/>
            <a:ext cx="480060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400" i="1" dirty="0">
                <a:solidFill>
                  <a:srgbClr val="DCE9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“QoS makes sure the traffic that matters most gets through first, even when the network is busy.”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126480" y="1600200"/>
            <a:ext cx="5349240" cy="1691640"/>
          </a:xfrm>
          <a:prstGeom prst="roundRect">
            <a:avLst>
              <a:gd name="adj" fmla="val 5405"/>
            </a:avLst>
          </a:prstGeom>
          <a:solidFill>
            <a:srgbClr val="0F2A3F"/>
          </a:solidFill>
          <a:ln w="12700">
            <a:solidFill>
              <a:srgbClr val="2E9E9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0" y="17830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2E9E9E"/>
                </a:solidFill>
              </a:rPr>
              <a:t>TECHNICAL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0" y="2057400"/>
            <a:ext cx="480060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i="1" dirty="0">
                <a:solidFill>
                  <a:srgbClr val="DCE9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“QoS classifies, marks, queues, schedules, and shapes traffic to control bandwidth, latency, jitter, and loss for selected flows.”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3785616"/>
            <a:ext cx="128016" cy="128016"/>
          </a:xfrm>
          <a:prstGeom prst="ellipse">
            <a:avLst/>
          </a:prstGeom>
          <a:solidFill>
            <a:srgbClr val="2E9E9E"/>
          </a:solidFill>
          <a:ln/>
        </p:spPr>
      </p:sp>
      <p:sp>
        <p:nvSpPr>
          <p:cNvPr id="11" name="Text 9"/>
          <p:cNvSpPr/>
          <p:nvPr/>
        </p:nvSpPr>
        <p:spPr>
          <a:xfrm>
            <a:off x="841248" y="3630168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EA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Congestion is inevitable — QoS decides who waits, not whether anyone does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548640" y="4407408"/>
            <a:ext cx="128016" cy="128016"/>
          </a:xfrm>
          <a:prstGeom prst="ellipse">
            <a:avLst/>
          </a:prstGeom>
          <a:solidFill>
            <a:srgbClr val="2E9E9E"/>
          </a:solidFill>
          <a:ln/>
        </p:spPr>
      </p:sp>
      <p:sp>
        <p:nvSpPr>
          <p:cNvPr id="13" name="Text 11"/>
          <p:cNvSpPr/>
          <p:nvPr/>
        </p:nvSpPr>
        <p:spPr>
          <a:xfrm>
            <a:off x="841248" y="425196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EA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Marking must be consistent end-to-end, or priority is lost at the first untrusted hop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548640" y="5029200"/>
            <a:ext cx="128016" cy="128016"/>
          </a:xfrm>
          <a:prstGeom prst="ellipse">
            <a:avLst/>
          </a:prstGeom>
          <a:solidFill>
            <a:srgbClr val="2E9E9E"/>
          </a:solidFill>
          <a:ln/>
        </p:spPr>
      </p:sp>
      <p:sp>
        <p:nvSpPr>
          <p:cNvPr id="15" name="Text 13"/>
          <p:cNvSpPr/>
          <p:nvPr/>
        </p:nvSpPr>
        <p:spPr>
          <a:xfrm>
            <a:off x="841248" y="4873752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EA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DiffServ scales; IntServ guarantees — most real networks pick DiffServ for that reason</a:t>
            </a:r>
            <a:endParaRPr lang="en-US" sz="14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>
            <a:extLst>
              <a:ext uri="{FF2B5EF4-FFF2-40B4-BE49-F238E27FC236}">
                <a16:creationId xmlns:a16="http://schemas.microsoft.com/office/drawing/2014/main" id="{9B5362BE-C4F9-ECF9-886C-5BFB6AA75B61}"/>
              </a:ext>
            </a:extLst>
          </p:cNvPr>
          <p:cNvSpPr/>
          <p:nvPr/>
        </p:nvSpPr>
        <p:spPr>
          <a:xfrm>
            <a:off x="548640" y="3429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kern="0" spc="200" dirty="0">
                <a:solidFill>
                  <a:srgbClr val="2E9E9E"/>
                </a:solidFill>
              </a:rPr>
              <a:t>CONCLUSION</a:t>
            </a:r>
            <a:endParaRPr lang="en-US" sz="3000" dirty="0"/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D736C7FF-68CC-07E1-19DB-4A346FE24FD8}"/>
              </a:ext>
            </a:extLst>
          </p:cNvPr>
          <p:cNvSpPr/>
          <p:nvPr/>
        </p:nvSpPr>
        <p:spPr>
          <a:xfrm>
            <a:off x="548640" y="868680"/>
            <a:ext cx="98755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2700" b="1" dirty="0">
                <a:solidFill>
                  <a:srgbClr val="0B2545"/>
                </a:solidFill>
              </a:rPr>
              <a:t>QoS turns a shared, unpredictable network</a:t>
            </a:r>
            <a:endParaRPr lang="en-US" sz="27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2700" b="1" dirty="0">
                <a:solidFill>
                  <a:srgbClr val="0B2545"/>
                </a:solidFill>
              </a:rPr>
              <a:t>into one that behaves predictably</a:t>
            </a:r>
            <a:endParaRPr lang="en-US" sz="2700" dirty="0"/>
          </a:p>
        </p:txBody>
      </p:sp>
      <p:sp>
        <p:nvSpPr>
          <p:cNvPr id="7" name="Text 3">
            <a:extLst>
              <a:ext uri="{FF2B5EF4-FFF2-40B4-BE49-F238E27FC236}">
                <a16:creationId xmlns:a16="http://schemas.microsoft.com/office/drawing/2014/main" id="{986A2D17-B67F-D9E4-A380-EDD73B36EC59}"/>
              </a:ext>
            </a:extLst>
          </p:cNvPr>
          <p:cNvSpPr/>
          <p:nvPr/>
        </p:nvSpPr>
        <p:spPr>
          <a:xfrm>
            <a:off x="548640" y="2331720"/>
            <a:ext cx="768096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3345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Bandwidth will always be finite and demand will always spike. QoS doesn't create more capacity — it makes a deliberate, policy-driven choice about who gets served first when capacity runs short, so voice, video, and business-critical traffic stay usable while everything else simply waits its turn.</a:t>
            </a:r>
            <a:endParaRPr lang="en-US" sz="1450" dirty="0"/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C53463FE-EA3C-DC73-4929-2B4A89C92B6D}"/>
              </a:ext>
            </a:extLst>
          </p:cNvPr>
          <p:cNvSpPr/>
          <p:nvPr/>
        </p:nvSpPr>
        <p:spPr>
          <a:xfrm>
            <a:off x="3017520" y="3794760"/>
            <a:ext cx="78638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3345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Give the traffic that matters most priority when the network is busy.</a:t>
            </a:r>
            <a:endParaRPr lang="en-US" sz="1350" dirty="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A068EF96-1B48-906A-D2A7-57B1ACE3BB99}"/>
              </a:ext>
            </a:extLst>
          </p:cNvPr>
          <p:cNvSpPr/>
          <p:nvPr/>
        </p:nvSpPr>
        <p:spPr>
          <a:xfrm>
            <a:off x="3017520" y="4617720"/>
            <a:ext cx="78638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3345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Classify, mark, queue, schedule, and shape packets consistently, end-to-end.</a:t>
            </a:r>
            <a:endParaRPr lang="en-US" sz="1350" dirty="0"/>
          </a:p>
        </p:txBody>
      </p:sp>
      <p:sp>
        <p:nvSpPr>
          <p:cNvPr id="13" name="Text 12">
            <a:extLst>
              <a:ext uri="{FF2B5EF4-FFF2-40B4-BE49-F238E27FC236}">
                <a16:creationId xmlns:a16="http://schemas.microsoft.com/office/drawing/2014/main" id="{C78CD5A1-18F2-998B-B80A-D814DC806780}"/>
              </a:ext>
            </a:extLst>
          </p:cNvPr>
          <p:cNvSpPr/>
          <p:nvPr/>
        </p:nvSpPr>
        <p:spPr>
          <a:xfrm>
            <a:off x="3017520" y="5440680"/>
            <a:ext cx="78638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3345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DiffServ, for most networks — it scales without per-flow overhead.</a:t>
            </a:r>
            <a:endParaRPr lang="en-US" sz="1350" dirty="0"/>
          </a:p>
        </p:txBody>
      </p:sp>
      <p:sp>
        <p:nvSpPr>
          <p:cNvPr id="15" name="Text 5">
            <a:extLst>
              <a:ext uri="{FF2B5EF4-FFF2-40B4-BE49-F238E27FC236}">
                <a16:creationId xmlns:a16="http://schemas.microsoft.com/office/drawing/2014/main" id="{13B4D626-C980-1B28-A2FE-89449D74E4BC}"/>
              </a:ext>
            </a:extLst>
          </p:cNvPr>
          <p:cNvSpPr/>
          <p:nvPr/>
        </p:nvSpPr>
        <p:spPr>
          <a:xfrm>
            <a:off x="822960" y="3794760"/>
            <a:ext cx="21031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2E9E9E"/>
                </a:solidFill>
              </a:rPr>
              <a:t>SIMPLE IDEA</a:t>
            </a:r>
            <a:endParaRPr lang="en-US" sz="1100" dirty="0"/>
          </a:p>
        </p:txBody>
      </p:sp>
      <p:sp>
        <p:nvSpPr>
          <p:cNvPr id="17" name="Text 8">
            <a:extLst>
              <a:ext uri="{FF2B5EF4-FFF2-40B4-BE49-F238E27FC236}">
                <a16:creationId xmlns:a16="http://schemas.microsoft.com/office/drawing/2014/main" id="{170A7B6E-33B8-B027-440C-B417E6AA62C0}"/>
              </a:ext>
            </a:extLst>
          </p:cNvPr>
          <p:cNvSpPr/>
          <p:nvPr/>
        </p:nvSpPr>
        <p:spPr>
          <a:xfrm>
            <a:off x="822960" y="4617720"/>
            <a:ext cx="21031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2E9E9E"/>
                </a:solidFill>
              </a:rPr>
              <a:t>HOW</a:t>
            </a:r>
            <a:endParaRPr lang="en-US" sz="1100" dirty="0"/>
          </a:p>
        </p:txBody>
      </p:sp>
      <p:sp>
        <p:nvSpPr>
          <p:cNvPr id="19" name="Text 11">
            <a:extLst>
              <a:ext uri="{FF2B5EF4-FFF2-40B4-BE49-F238E27FC236}">
                <a16:creationId xmlns:a16="http://schemas.microsoft.com/office/drawing/2014/main" id="{99C64C03-B6B1-CBD9-6D30-65A3F2F0105E}"/>
              </a:ext>
            </a:extLst>
          </p:cNvPr>
          <p:cNvSpPr/>
          <p:nvPr/>
        </p:nvSpPr>
        <p:spPr>
          <a:xfrm>
            <a:off x="822960" y="5440680"/>
            <a:ext cx="21031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2E9E9E"/>
                </a:solidFill>
              </a:rPr>
              <a:t>RIGHT MODEL</a:t>
            </a:r>
            <a:endParaRPr lang="en-US" sz="1100" dirty="0"/>
          </a:p>
        </p:txBody>
      </p:sp>
      <p:sp>
        <p:nvSpPr>
          <p:cNvPr id="21" name="Shape 4">
            <a:extLst>
              <a:ext uri="{FF2B5EF4-FFF2-40B4-BE49-F238E27FC236}">
                <a16:creationId xmlns:a16="http://schemas.microsoft.com/office/drawing/2014/main" id="{B2950C30-7649-3E18-5E14-A46E66827BB3}"/>
              </a:ext>
            </a:extLst>
          </p:cNvPr>
          <p:cNvSpPr/>
          <p:nvPr/>
        </p:nvSpPr>
        <p:spPr>
          <a:xfrm>
            <a:off x="548640" y="3794760"/>
            <a:ext cx="82296" cy="658368"/>
          </a:xfrm>
          <a:prstGeom prst="roundRect">
            <a:avLst/>
          </a:prstGeom>
          <a:solidFill>
            <a:srgbClr val="2E9E9E"/>
          </a:solidFill>
          <a:ln/>
        </p:spPr>
      </p:sp>
      <p:sp>
        <p:nvSpPr>
          <p:cNvPr id="23" name="Shape 7">
            <a:extLst>
              <a:ext uri="{FF2B5EF4-FFF2-40B4-BE49-F238E27FC236}">
                <a16:creationId xmlns:a16="http://schemas.microsoft.com/office/drawing/2014/main" id="{30713DDD-6FEF-2205-F11A-A89BD299BB78}"/>
              </a:ext>
            </a:extLst>
          </p:cNvPr>
          <p:cNvSpPr/>
          <p:nvPr/>
        </p:nvSpPr>
        <p:spPr>
          <a:xfrm>
            <a:off x="548640" y="4617720"/>
            <a:ext cx="82296" cy="658368"/>
          </a:xfrm>
          <a:prstGeom prst="roundRect">
            <a:avLst/>
          </a:prstGeom>
          <a:solidFill>
            <a:srgbClr val="2E9E9E"/>
          </a:solidFill>
          <a:ln/>
        </p:spPr>
      </p:sp>
      <p:sp>
        <p:nvSpPr>
          <p:cNvPr id="25" name="Shape 10">
            <a:extLst>
              <a:ext uri="{FF2B5EF4-FFF2-40B4-BE49-F238E27FC236}">
                <a16:creationId xmlns:a16="http://schemas.microsoft.com/office/drawing/2014/main" id="{013CD2D4-B8DD-1C5C-52C7-BEC71DFD19F2}"/>
              </a:ext>
            </a:extLst>
          </p:cNvPr>
          <p:cNvSpPr/>
          <p:nvPr/>
        </p:nvSpPr>
        <p:spPr>
          <a:xfrm>
            <a:off x="548640" y="5440680"/>
            <a:ext cx="82296" cy="658368"/>
          </a:xfrm>
          <a:prstGeom prst="roundRect">
            <a:avLst/>
          </a:prstGeom>
          <a:solidFill>
            <a:srgbClr val="2E9E9E"/>
          </a:solidFill>
          <a:ln/>
        </p:spPr>
      </p:sp>
      <p:sp>
        <p:nvSpPr>
          <p:cNvPr id="27" name="Shape 0">
            <a:extLst>
              <a:ext uri="{FF2B5EF4-FFF2-40B4-BE49-F238E27FC236}">
                <a16:creationId xmlns:a16="http://schemas.microsoft.com/office/drawing/2014/main" id="{5E7E4734-7F9F-5810-DDFC-5DA5EF440F3E}"/>
              </a:ext>
            </a:extLst>
          </p:cNvPr>
          <p:cNvSpPr/>
          <p:nvPr/>
        </p:nvSpPr>
        <p:spPr>
          <a:xfrm>
            <a:off x="9875520" y="-1188720"/>
            <a:ext cx="3840480" cy="3840480"/>
          </a:xfrm>
          <a:prstGeom prst="ellipse">
            <a:avLst/>
          </a:prstGeom>
          <a:solidFill>
            <a:srgbClr val="E4F1F2"/>
          </a:solidFill>
          <a:ln/>
        </p:spPr>
      </p:sp>
    </p:spTree>
    <p:extLst>
      <p:ext uri="{BB962C8B-B14F-4D97-AF65-F5344CB8AC3E}">
        <p14:creationId xmlns:p14="http://schemas.microsoft.com/office/powerpoint/2010/main" val="257021453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4">
            <a:extLst>
              <a:ext uri="{FF2B5EF4-FFF2-40B4-BE49-F238E27FC236}">
                <a16:creationId xmlns:a16="http://schemas.microsoft.com/office/drawing/2014/main" id="{3EACB82D-CA0D-D380-6DF9-C74C30BC51EA}"/>
              </a:ext>
            </a:extLst>
          </p:cNvPr>
          <p:cNvSpPr/>
          <p:nvPr/>
        </p:nvSpPr>
        <p:spPr>
          <a:xfrm>
            <a:off x="3067905" y="3091232"/>
            <a:ext cx="6626601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0" b="1" dirty="0">
                <a:solidFill>
                  <a:srgbClr val="2E9E9E"/>
                </a:solidFill>
              </a:rPr>
              <a:t>Thank you</a:t>
            </a:r>
            <a:endParaRPr lang="en-US" sz="10000" dirty="0"/>
          </a:p>
        </p:txBody>
      </p:sp>
    </p:spTree>
    <p:extLst>
      <p:ext uri="{BB962C8B-B14F-4D97-AF65-F5344CB8AC3E}">
        <p14:creationId xmlns:p14="http://schemas.microsoft.com/office/powerpoint/2010/main" val="29835697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</TotalTime>
  <Words>865</Words>
  <Application>Microsoft Office PowerPoint</Application>
  <PresentationFormat>Widescreen</PresentationFormat>
  <Paragraphs>115</Paragraphs>
  <Slides>10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Preethashri Preetha</cp:lastModifiedBy>
  <cp:revision>3</cp:revision>
  <dcterms:created xsi:type="dcterms:W3CDTF">2026-08-25T09:00:58Z</dcterms:created>
  <dcterms:modified xsi:type="dcterms:W3CDTF">2026-09-01T02:55:10Z</dcterms:modified>
</cp:coreProperties>
</file>