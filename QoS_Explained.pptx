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 dirty="0">
                <a:solidFill>
                  <a:srgbClr val="0B2545"/>
                </a:solidFill>
                <a:latin typeface="Arial"/>
              </a:rPr>
              <a:t>Voice Call Jitter Under Congestion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Jitter (ms) during congestion</c:v>
                </c:pt>
              </c:strCache>
            </c:strRef>
          </c:tx>
          <c:spPr>
            <a:solidFill>
              <a:srgbClr val="D98E2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8E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D4-4FE8-B6FB-C6EAFB1818B5}"/>
              </c:ext>
            </c:extLst>
          </c:dPt>
          <c:dPt>
            <c:idx val="1"/>
            <c:invertIfNegative val="0"/>
            <c:bubble3D val="0"/>
            <c:spPr>
              <a:solidFill>
                <a:srgbClr val="2E9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D4-4FE8-B6FB-C6EAFB1818B5}"/>
              </c:ext>
            </c:extLst>
          </c:dPt>
          <c:dLbls>
            <c:numFmt formatCode="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QoS</c:v>
                </c:pt>
                <c:pt idx="1">
                  <c:v>With QoS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D4-4FE8-B6FB-C6EAFB1818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79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B5D6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2E9E9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Service (QoS)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in Simple and Technical Terms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8100">
            <a:solidFill>
              <a:srgbClr val="2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networks decide what traffic gets priority — and why it matters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7C4E3-B572-50F8-5249-D000432772B8}"/>
              </a:ext>
            </a:extLst>
          </p:cNvPr>
          <p:cNvSpPr txBox="1"/>
          <p:nvPr/>
        </p:nvSpPr>
        <p:spPr>
          <a:xfrm>
            <a:off x="1000125" y="4867275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M.V.Preethashri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192524476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Saveetha Institute of Medical and Technical Sciences Engineering Fests,  Symposiums in Chennai from August 2026 Technical, Cultural, Management,  Sports, Conferences, Seminars">
            <a:extLst>
              <a:ext uri="{FF2B5EF4-FFF2-40B4-BE49-F238E27FC236}">
                <a16:creationId xmlns:a16="http://schemas.microsoft.com/office/drawing/2014/main" id="{2176E292-3114-71B2-AE92-15C2DBDC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"/>
            <a:ext cx="12192000" cy="1049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8428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QoS is traffic management for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an airport security line: most travelers wait in the regular queue, but urgent passengers — a diplomat, a crew member, a connecting flight about to close — get to skip ahead. QoS does the same thing for data packets crossing a network.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QoS, every packet is treated equally and served first-come, first-served. When the network gets busy, everything — video calls, downloads, emails — competes for the same limited space, and the things that need to arrive fast (like a voice call) can suffer just as much as the things that don't (like a background update).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7FAFA"/>
          </a:solidFill>
          <a:ln/>
          <a:effectLst>
            <a:outerShdw blurRad="127000" dist="38100" dir="5400000" algn="bl" rotWithShape="0">
              <a:srgbClr val="1B2B33">
                <a:alpha val="18000"/>
              </a:srgbClr>
            </a:outerShdw>
          </a:effectLst>
        </p:spPr>
      </p:sp>
      <p:pic>
        <p:nvPicPr>
          <p:cNvPr id="7" name="Image 0" descr="icon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4380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Priority Lane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3720" y="233172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2E9E9E"/>
          </a:solidFill>
          <a:ln/>
        </p:spPr>
      </p:sp>
      <p:sp>
        <p:nvSpPr>
          <p:cNvPr id="10" name="Text 7"/>
          <p:cNvSpPr/>
          <p:nvPr/>
        </p:nvSpPr>
        <p:spPr>
          <a:xfrm>
            <a:off x="6903720" y="2331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Voice call · Video conference</a:t>
            </a:r>
            <a:endParaRPr lang="en-US" sz="1250" dirty="0"/>
          </a:p>
        </p:txBody>
      </p:sp>
      <p:pic>
        <p:nvPicPr>
          <p:cNvPr id="11" name="Image 1" descr="icon_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1546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3154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Standard Lane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03720" y="379476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9FB5BA"/>
          </a:solidFill>
          <a:ln/>
        </p:spPr>
      </p:sp>
      <p:sp>
        <p:nvSpPr>
          <p:cNvPr id="14" name="Text 10"/>
          <p:cNvSpPr/>
          <p:nvPr/>
        </p:nvSpPr>
        <p:spPr>
          <a:xfrm>
            <a:off x="6903720" y="37947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browsing · Email</a:t>
            </a:r>
            <a:endParaRPr lang="en-US" sz="1250" dirty="0"/>
          </a:p>
        </p:txBody>
      </p:sp>
      <p:pic>
        <p:nvPicPr>
          <p:cNvPr id="15" name="Image 2" descr="icon_traff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617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Background Lane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903720" y="525780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C7D3D6"/>
          </a:solidFill>
          <a:ln/>
        </p:spPr>
      </p:sp>
      <p:sp>
        <p:nvSpPr>
          <p:cNvPr id="18" name="Text 13"/>
          <p:cNvSpPr/>
          <p:nvPr/>
        </p:nvSpPr>
        <p:spPr>
          <a:xfrm>
            <a:off x="6903720" y="5257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</a:rPr>
              <a:t>Backups · Software updates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88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THE TECHNICAL DEFINITION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formal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24A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2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Service (QoS)</a:t>
            </a:r>
            <a:r>
              <a:rPr lang="en-US" sz="15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set of technologies and mechanisms that measure and control a network's ability to give predictable performance to selected traffic — by managing bandwidth, latency, jitter, and packet loss rather than treating all traffic identically.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8" name="Image 0" descr="icon_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&amp; Marking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packet type and tag it (DSCP / 802.1p) so devices downstream know its priority.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13" name="Image 1" descr="icon_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57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Queuing &amp; Scheduling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marked packets into queues and decide the order they leave an interface.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324612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0F2A3F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3520440"/>
            <a:ext cx="640080" cy="640080"/>
          </a:xfrm>
          <a:prstGeom prst="ellipse">
            <a:avLst/>
          </a:prstGeom>
          <a:solidFill>
            <a:srgbClr val="2E9E9E"/>
          </a:solidFill>
          <a:ln/>
        </p:spPr>
      </p:sp>
      <p:pic>
        <p:nvPicPr>
          <p:cNvPr id="18" name="Image 2" descr="icon_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3657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4297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&amp; Policing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C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or cap traffic flow to match available bandwidth and contracted 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Links have finite capacity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link — an office WAN connection, a home router's uplink, a data-center port — can carry only so much traffic at once. QoS decides what happens when demand exceeds that capacity.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205740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F7FAFA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What congestion does without QoS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2862072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271576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and video calls break up, echo, or freeze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3520440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374136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business traffic queues behind bulk transfers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4178808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4032504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 rises, forcing retransmissions that add more load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4837176"/>
            <a:ext cx="109728" cy="109728"/>
          </a:xfrm>
          <a:prstGeom prst="ellipse">
            <a:avLst/>
          </a:prstGeom>
          <a:solidFill>
            <a:srgbClr val="D98E27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69087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perceive the whole network as 'slow', even though total throughput may be fine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KEY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5913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What QoS actually measures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6" name="Image 0" descr="icon_bandwid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084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Bandwidth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0584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can flow at once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capacity, in bits per second, on a link or path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13" name="Image 1" descr="icon_latenc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0848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Latency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388620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1188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a packet takes to arrive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1188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or round-trip delay, typically in milliseconds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0936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6948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20" name="Image 2" descr="icon_jit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0848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Jitter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676656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9224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uneven the delay is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9224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in inter-packet arrival time; disrupts real-time audio/video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89720" y="160020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/>
          <a:effectLst>
            <a:outerShdw blurRad="1016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149840" y="1920240"/>
            <a:ext cx="731520" cy="731520"/>
          </a:xfrm>
          <a:prstGeom prst="ellipse">
            <a:avLst/>
          </a:prstGeom>
          <a:solidFill>
            <a:srgbClr val="0B5D6B"/>
          </a:solidFill>
          <a:ln/>
        </p:spPr>
      </p:sp>
      <p:pic>
        <p:nvPicPr>
          <p:cNvPr id="27" name="Image 3" descr="icon_lo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08483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2545"/>
                </a:solidFill>
              </a:rPr>
              <a:t>Packet Loss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9646920" y="3337560"/>
            <a:ext cx="1737360" cy="0"/>
          </a:xfrm>
          <a:prstGeom prst="line">
            <a:avLst/>
          </a:prstGeom>
          <a:noFill/>
          <a:ln w="19050">
            <a:solidFill>
              <a:srgbClr val="2E9E9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372600" y="34747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B5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never arrives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372600" y="4297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4451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packets dropped, often during congestion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From packet arrival to the wire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headers (port, protocol, DSCP) to identify traffic type.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257860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5D6B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the packet (DSCP/CoS) so every hop treats it consistently.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77316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Queue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packet into a priority, weighted, or low-latency queue.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5400000">
            <a:off x="696772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5D6B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694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Schedule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scheduler (e.g. WFQ, LLQ) decides transmission order per queue.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9162288" y="3337560"/>
            <a:ext cx="164592" cy="256032"/>
          </a:xfrm>
          <a:prstGeom prst="triangle">
            <a:avLst/>
          </a:prstGeom>
          <a:solidFill>
            <a:srgbClr val="5B6B73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19202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057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FD7D9"/>
                </a:solidFill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4640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Shape / Police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64040" y="306324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bursts or drop/re-mark traffic exceeding contracted rates.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pipeline runs on every QoS-aware device the packet crosses — routers, switches, and firewalls — so consistent marking end-to-end matters as much as any single step.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QoS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Three approaches, three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Effort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IntServ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600200"/>
            <a:ext cx="2651760" cy="777240"/>
          </a:xfrm>
          <a:prstGeom prst="rect">
            <a:avLst/>
          </a:prstGeom>
          <a:solidFill>
            <a:srgbClr val="0B2545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05088" y="160020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7744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treats traffic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packets equal, FIFO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resources per flow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95360" y="237744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5088" y="237744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traffic into a few service classes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5468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— no state kept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— state per flow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95360" y="315468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315468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— state per class, not per 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93192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level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29184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Strict, end-to-end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95360" y="3931920"/>
            <a:ext cx="265176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393192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priority, not absolute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2743200" cy="777240"/>
          </a:xfrm>
          <a:prstGeom prst="rect">
            <a:avLst/>
          </a:prstGeom>
          <a:solidFill>
            <a:srgbClr val="F7FAFA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709160"/>
            <a:ext cx="2523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29184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Internet traffic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controlled networks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595360" y="4709160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05088" y="47091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ISP backbones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2606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QoS in one sentence, two 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F2A3F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E9E"/>
                </a:solidFill>
              </a:rPr>
              <a:t>SIMPLE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“QoS makes sure the traffic that matters most gets through first, even when the network is busy.”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F2A3F"/>
          </a:solidFill>
          <a:ln w="12700">
            <a:solidFill>
              <a:srgbClr val="2E9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9E9E"/>
                </a:solidFill>
              </a:rPr>
              <a:t>TECHNICAL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“QoS classifies, marks, queues, schedules, and shapes traffic to control bandwidth, latency, jitter, and loss for selected flows.”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63016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is inevitable — QoS decides who waits, not whether anyone does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must be consistent end-to-end, or priority is lost at the first untrusted hop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2E9E9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87375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 scales; IntServ guarantees — most real networks pick DiffServ for that reason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B5362BE-C4F9-ECF9-886C-5BFB6AA75B61}"/>
              </a:ext>
            </a:extLst>
          </p:cNvPr>
          <p:cNvSpPr/>
          <p:nvPr/>
        </p:nvSpPr>
        <p:spPr>
          <a:xfrm>
            <a:off x="548640" y="3429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2E9E9E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36C7FF-68CC-07E1-19DB-4A346FE24FD8}"/>
              </a:ext>
            </a:extLst>
          </p:cNvPr>
          <p:cNvSpPr/>
          <p:nvPr/>
        </p:nvSpPr>
        <p:spPr>
          <a:xfrm>
            <a:off x="548640" y="8686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2545"/>
                </a:solidFill>
              </a:rPr>
              <a:t>QoS turns a shared, unpredictable network</a:t>
            </a:r>
            <a:endParaRPr lang="en-US" sz="2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2545"/>
                </a:solidFill>
              </a:rPr>
              <a:t>into one that behaves predictably</a:t>
            </a:r>
            <a:endParaRPr lang="en-US" sz="2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6A2D17-B67F-D9E4-A380-EDD73B36EC59}"/>
              </a:ext>
            </a:extLst>
          </p:cNvPr>
          <p:cNvSpPr/>
          <p:nvPr/>
        </p:nvSpPr>
        <p:spPr>
          <a:xfrm>
            <a:off x="548640" y="2331720"/>
            <a:ext cx="7680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will always be finite and demand will always spike. QoS doesn't create more capacity — it makes a deliberate, policy-driven choice about who gets served first when capacity runs short, so voice, video, and business-critical traffic stay usable while everything else simply waits its turn.</a:t>
            </a:r>
            <a:endParaRPr lang="en-US" sz="14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53463FE-EA3C-DC73-4929-2B4A89C92B6D}"/>
              </a:ext>
            </a:extLst>
          </p:cNvPr>
          <p:cNvSpPr/>
          <p:nvPr/>
        </p:nvSpPr>
        <p:spPr>
          <a:xfrm>
            <a:off x="3017520" y="379476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traffic that matters most priority when the network is busy.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68EF96-1B48-906A-D2A7-57B1ACE3BB99}"/>
              </a:ext>
            </a:extLst>
          </p:cNvPr>
          <p:cNvSpPr/>
          <p:nvPr/>
        </p:nvSpPr>
        <p:spPr>
          <a:xfrm>
            <a:off x="3017520" y="46177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Classify, mark, queue, schedule, and shape packets consistently, end-to-end.</a:t>
            </a:r>
            <a:endParaRPr lang="en-US" sz="13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78CD5A1-18F2-998B-B80A-D814DC806780}"/>
              </a:ext>
            </a:extLst>
          </p:cNvPr>
          <p:cNvSpPr/>
          <p:nvPr/>
        </p:nvSpPr>
        <p:spPr>
          <a:xfrm>
            <a:off x="3017520" y="544068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DiffServ, for most networks — it scales without per-flow overhead.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3B4D626-C980-1B28-A2FE-89449D74E4BC}"/>
              </a:ext>
            </a:extLst>
          </p:cNvPr>
          <p:cNvSpPr/>
          <p:nvPr/>
        </p:nvSpPr>
        <p:spPr>
          <a:xfrm>
            <a:off x="822960" y="37947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SIMPLE IDEA</a:t>
            </a:r>
            <a:endParaRPr lang="en-US" sz="11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70A7B6E-33B8-B027-440C-B417E6AA62C0}"/>
              </a:ext>
            </a:extLst>
          </p:cNvPr>
          <p:cNvSpPr/>
          <p:nvPr/>
        </p:nvSpPr>
        <p:spPr>
          <a:xfrm>
            <a:off x="822960" y="46177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HOW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9C64C03-B6B1-CBD9-6D30-65A3F2F0105E}"/>
              </a:ext>
            </a:extLst>
          </p:cNvPr>
          <p:cNvSpPr/>
          <p:nvPr/>
        </p:nvSpPr>
        <p:spPr>
          <a:xfrm>
            <a:off x="822960" y="5440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9E"/>
                </a:solidFill>
              </a:rPr>
              <a:t>RIGHT MODEL</a:t>
            </a:r>
            <a:endParaRPr lang="en-US" sz="11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2950C30-7649-3E18-5E14-A46E66827BB3}"/>
              </a:ext>
            </a:extLst>
          </p:cNvPr>
          <p:cNvSpPr/>
          <p:nvPr/>
        </p:nvSpPr>
        <p:spPr>
          <a:xfrm>
            <a:off x="548640" y="379476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30713DDD-6FEF-2205-F11A-A89BD299BB78}"/>
              </a:ext>
            </a:extLst>
          </p:cNvPr>
          <p:cNvSpPr/>
          <p:nvPr/>
        </p:nvSpPr>
        <p:spPr>
          <a:xfrm>
            <a:off x="548640" y="461772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013CD2D4-B8DD-1C5C-52C7-BEC71DFD19F2}"/>
              </a:ext>
            </a:extLst>
          </p:cNvPr>
          <p:cNvSpPr/>
          <p:nvPr/>
        </p:nvSpPr>
        <p:spPr>
          <a:xfrm>
            <a:off x="548640" y="5440680"/>
            <a:ext cx="82296" cy="658368"/>
          </a:xfrm>
          <a:prstGeom prst="roundRect">
            <a:avLst/>
          </a:prstGeom>
          <a:solidFill>
            <a:srgbClr val="2E9E9E"/>
          </a:solidFill>
          <a:ln/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5E7E4734-7F9F-5810-DDFC-5DA5EF440F3E}"/>
              </a:ext>
            </a:extLst>
          </p:cNvPr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E4F1F2"/>
          </a:solidFill>
          <a:ln/>
        </p:spPr>
      </p:sp>
    </p:spTree>
    <p:extLst>
      <p:ext uri="{BB962C8B-B14F-4D97-AF65-F5344CB8AC3E}">
        <p14:creationId xmlns:p14="http://schemas.microsoft.com/office/powerpoint/2010/main" val="257021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4">
            <a:extLst>
              <a:ext uri="{FF2B5EF4-FFF2-40B4-BE49-F238E27FC236}">
                <a16:creationId xmlns:a16="http://schemas.microsoft.com/office/drawing/2014/main" id="{3EACB82D-CA0D-D380-6DF9-C74C30BC51EA}"/>
              </a:ext>
            </a:extLst>
          </p:cNvPr>
          <p:cNvSpPr/>
          <p:nvPr/>
        </p:nvSpPr>
        <p:spPr>
          <a:xfrm>
            <a:off x="3067905" y="3091232"/>
            <a:ext cx="66266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E9E9E"/>
                </a:solidFill>
              </a:rPr>
              <a:t>Thank you</a:t>
            </a:r>
            <a:endParaRPr lang="en-US" sz="10000" dirty="0"/>
          </a:p>
        </p:txBody>
      </p:sp>
    </p:spTree>
    <p:extLst>
      <p:ext uri="{BB962C8B-B14F-4D97-AF65-F5344CB8AC3E}">
        <p14:creationId xmlns:p14="http://schemas.microsoft.com/office/powerpoint/2010/main" val="298356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865</Words>
  <Application>Microsoft Office PowerPoint</Application>
  <PresentationFormat>Widescreen</PresentationFormat>
  <Paragraphs>115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Preethashri Preetha</cp:lastModifiedBy>
  <cp:revision>3</cp:revision>
  <dcterms:created xsi:type="dcterms:W3CDTF">2026-08-25T09:00:58Z</dcterms:created>
  <dcterms:modified xsi:type="dcterms:W3CDTF">2026-08-25T09:20:17Z</dcterms:modified>
</cp:coreProperties>
</file>